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Spikevax product sales ($B)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2025 (guide)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17.7</c:v>
                </c:pt>
                <c:pt idx="2">
                  <c:v>18.4</c:v>
                </c:pt>
                <c:pt idx="3">
                  <c:v>1.9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3341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BD5E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E3A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3341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BD5E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B1F2A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755db02-c17b-4af5-8dd5-c84f1f15766a}"/>
      </c:ext>
    </c:extLst>
  </c:chart>
  <c:spPr>
    <a:solidFill>
      <a:srgbClr val="0B1F2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company revenue ($B)</c:v>
                </c:pt>
              </c:strCache>
            </c:strRef>
          </c:tx>
          <c:spPr>
            <a:ln w="38100" cap="flat" cmpd="sng" algn="ctr">
              <a:solidFill>
                <a:srgbClr val="F462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623A"/>
              </a:solidFill>
              <a:ln w="9525" cap="flat" cmpd="sng" algn="ctr">
                <a:solidFill>
                  <a:srgbClr val="F4623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0B1F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</c:v>
                </c:pt>
                <c:pt idx="1">
                  <c:v>18.5</c:v>
                </c:pt>
                <c:pt idx="2">
                  <c:v>19.3</c:v>
                </c:pt>
                <c:pt idx="3">
                  <c:v>6.8</c:v>
                </c:pt>
                <c:pt idx="4">
                  <c:v>3.2</c:v>
                </c:pt>
                <c:pt idx="5">
                  <c:v>1.9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7556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7556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a4fb4ee-b58c-4b1e-be75-314a59c44cf6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102C3A"/>
          </a:solidFill>
        </p:spPr>
      </p:sp>
      <p:sp>
        <p:nvSpPr>
          <p:cNvPr id="3" name="Shape 1"/>
          <p:cNvSpPr/>
          <p:nvPr/>
        </p:nvSpPr>
        <p:spPr>
          <a:xfrm>
            <a:off x="10607040" y="3840480"/>
            <a:ext cx="2743200" cy="2743200"/>
          </a:xfrm>
          <a:prstGeom prst="ellipse">
            <a:avLst/>
          </a:prstGeom>
          <a:solidFill>
            <a:srgbClr val="102C3A"/>
          </a:solidFill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2 — CASE STUDY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Moderna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7772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Pioneering the mRNA Platform — From Pandemic Response to a Multi-Disease Medicine Engine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14413A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4083710"/>
            <a:ext cx="427939" cy="4279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40690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CodeAlpha Biotechnology Internship  |  Prepared By Kanza Touqeer|ID: CA/DF1/184641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Internship|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By Kanza Touqeer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Company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14120"/>
            <a:ext cx="70408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08760"/>
            <a:ext cx="19202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4617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2010, Cambridge, Massachusetts, USA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221992"/>
            <a:ext cx="19202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2221992"/>
            <a:ext cx="4617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Derrick Rossi, along with Flagship Pioneering's Noubar Afeyan and others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935224"/>
            <a:ext cx="19202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technology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2935224"/>
            <a:ext cx="4617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Messenger RNA (mRNA) platform — instructs the body's own cells to produce a target protein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648456"/>
            <a:ext cx="19202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Flagship product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3648456"/>
            <a:ext cx="4617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Spikevax, one of the first mRNA COVID-19 vaccines authorized worldwide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361688"/>
            <a:ext cx="19202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listing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4361688"/>
            <a:ext cx="4617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NASDAQ: MRNA (IPO in 2018)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19202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today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5074920"/>
            <a:ext cx="4617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Vaccines and therapeutics spanning infectious disease, oncology, rare disease, and autoimmune conditions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18120" y="1234440"/>
            <a:ext cx="3794760" cy="4846320"/>
          </a:xfrm>
          <a:prstGeom prst="roundRect">
            <a:avLst>
              <a:gd name="adj" fmla="val 1928"/>
            </a:avLst>
          </a:prstGeom>
          <a:solidFill>
            <a:srgbClr val="0B1F2A"/>
          </a:solidFill>
        </p:spPr>
      </p:sp>
      <p:sp>
        <p:nvSpPr>
          <p:cNvPr id="17" name="Shape 15"/>
          <p:cNvSpPr/>
          <p:nvPr/>
        </p:nvSpPr>
        <p:spPr>
          <a:xfrm>
            <a:off x="8183880" y="1600200"/>
            <a:ext cx="548640" cy="548640"/>
          </a:xfrm>
          <a:prstGeom prst="ellipse">
            <a:avLst/>
          </a:prstGeom>
          <a:solidFill>
            <a:srgbClr val="14413A"/>
          </a:solidFill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4230" y="1660550"/>
            <a:ext cx="427939" cy="42793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818120" y="2331720"/>
            <a:ext cx="37947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startup to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global biotech leader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818120" y="3200400"/>
            <a:ext cx="3794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$803M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8001000" y="3794760"/>
            <a:ext cx="3429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2020 revenue, before COVID-19 vaccine sales began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818120" y="4480560"/>
            <a:ext cx="3794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$18.5B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8001000" y="5074920"/>
            <a:ext cx="3429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Full-year 2021 revenue at the pandemic peak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Internship|By Kanza Touqeer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Core Innovation: an mRNA "Operating System"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Moderna's central bet: treat mRNA like software. One platform, many programmable "apps."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420624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CCFBF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939900"/>
            <a:ext cx="463601" cy="463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7480" y="1874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21945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Scientists design a synthetic mRNA sequence that codes for a chosen protein or antigen.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20440" y="1610360"/>
            <a:ext cx="2743200" cy="420624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94760" y="1874520"/>
            <a:ext cx="594360" cy="594360"/>
          </a:xfrm>
          <a:prstGeom prst="ellipse">
            <a:avLst/>
          </a:prstGeom>
          <a:solidFill>
            <a:srgbClr val="CCFBF1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140" y="1939900"/>
            <a:ext cx="463601" cy="46360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874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794760" y="260604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94760" y="3063240"/>
            <a:ext cx="21945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mRNA is wrapped in a lipid nanoparticle (LNP) that protects it and carries it into cells.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92240" y="1600200"/>
            <a:ext cx="2743200" cy="420624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66560" y="1874520"/>
            <a:ext cx="594360" cy="594360"/>
          </a:xfrm>
          <a:prstGeom prst="ellipse">
            <a:avLst/>
          </a:prstGeom>
          <a:solidFill>
            <a:srgbClr val="CCFBF1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940" y="1939900"/>
            <a:ext cx="463601" cy="46360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41080" y="1874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766560" y="260604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766560" y="3063240"/>
            <a:ext cx="21945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inside, the cell reads the mRNA and produces the target protein using its own machinery.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464040" y="1600200"/>
            <a:ext cx="2743200" cy="420624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38360" y="1874520"/>
            <a:ext cx="594360" cy="594360"/>
          </a:xfrm>
          <a:prstGeom prst="ellipse">
            <a:avLst/>
          </a:prstGeom>
          <a:solidFill>
            <a:srgbClr val="CCFBF1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3740" y="1939900"/>
            <a:ext cx="463601" cy="46360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612880" y="1874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9738360" y="260604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Respond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738360" y="3063240"/>
            <a:ext cx="21945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immune system recognizes the protein and builds a protective response — or the protein itself acts as therapy.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48640" y="598932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matters: the same platform that produced a COVID-19 vaccine in ~11 months is now being pointed at flu, RSV, cancer, and rare genetic diseases — turning drug development into a repeatable process rather than a one-off discovery.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By Kanza Touqeer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Flagship Product: Spikevax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44600"/>
            <a:ext cx="68580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08760"/>
            <a:ext cx="548640" cy="548640"/>
          </a:xfrm>
          <a:prstGeom prst="ellipse">
            <a:avLst/>
          </a:prstGeom>
          <a:solidFill>
            <a:srgbClr val="CCFBF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0" y="15691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mRNA-1273 (Spikevax)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626364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Authorized for emergency use in December 2020 — roughly 11 months after the genetic sequence of SARS-CoV-2 was published, an unprecedented development timeline for a new vaccine.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Demonstrated approximately 93–95% efficacy against symptomatic COVID-19 in Phase 3 trials.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Became one of the two dominant mRNA COVID-19 vaccines used worldwide, alongside Pfizer-BioNTech's product.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$17.7 billion in 2021 and $18.4 billion in 2022 in product sales — among the fastest revenue ramps of any pharmaceutical product in history.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Later expanded into updated variant boosters and next-generation formulations as the virus evolved.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1234440"/>
            <a:ext cx="3977640" cy="4846320"/>
          </a:xfrm>
          <a:prstGeom prst="roundRect">
            <a:avLst>
              <a:gd name="adj" fmla="val 1839"/>
            </a:avLst>
          </a:prstGeom>
          <a:solidFill>
            <a:srgbClr val="0B1F2A"/>
          </a:solidFill>
        </p:spPr>
      </p:sp>
      <p:sp>
        <p:nvSpPr>
          <p:cNvPr id="9" name="Text 6"/>
          <p:cNvSpPr/>
          <p:nvPr/>
        </p:nvSpPr>
        <p:spPr>
          <a:xfrm>
            <a:off x="7635240" y="1508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Trajectory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7772400" y="1965960"/>
          <a:ext cx="37033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By Kanza Touqeer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Beyond COVID: A Diversifying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is using COVID-era cash flow to fund a broader portfolio across four therapeutic areas.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CCFBF1"/>
          </a:solidFill>
        </p:spPr>
      </p:sp>
      <p:sp>
        <p:nvSpPr>
          <p:cNvPr id="5" name="Shape 3"/>
          <p:cNvSpPr/>
          <p:nvPr/>
        </p:nvSpPr>
        <p:spPr>
          <a:xfrm>
            <a:off x="804672" y="187452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19348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Respiratory Vaccines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224028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mRESVIA (RSV) approved 2024; seasonal flu vaccine (mRNA-1010) and next-gen COVID/flu combination shots in late-stage trials.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47288" y="160020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EE2DD"/>
          </a:solidFill>
        </p:spPr>
      </p:sp>
      <p:sp>
        <p:nvSpPr>
          <p:cNvPr id="10" name="Shape 7"/>
          <p:cNvSpPr/>
          <p:nvPr/>
        </p:nvSpPr>
        <p:spPr>
          <a:xfrm>
            <a:off x="3703320" y="187452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0" y="19348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2560320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Oncology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75888" y="3200400"/>
            <a:ext cx="224028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Individualized neoantigen cancer therapy (intismeran autogene) in Phase 3, developed with Merck, personalized to each patient's tumor mutations.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45936" y="160020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CCFBF1"/>
          </a:solidFill>
        </p:spPr>
      </p:sp>
      <p:sp>
        <p:nvSpPr>
          <p:cNvPr id="15" name="Shape 11"/>
          <p:cNvSpPr/>
          <p:nvPr/>
        </p:nvSpPr>
        <p:spPr>
          <a:xfrm>
            <a:off x="6601968" y="187452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318" y="193487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74536" y="2560320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Rare Disease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74536" y="3200400"/>
            <a:ext cx="224028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mRNA-based therapies designed to help cells produce enzymes or proteins missing in rare genetic disorders such as glycogen storage disease.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44584" y="160020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EE2DD"/>
          </a:solidFill>
        </p:spPr>
      </p:sp>
      <p:sp>
        <p:nvSpPr>
          <p:cNvPr id="20" name="Shape 15"/>
          <p:cNvSpPr/>
          <p:nvPr/>
        </p:nvSpPr>
        <p:spPr>
          <a:xfrm>
            <a:off x="9500616" y="187452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966" y="193487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73184" y="2560320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Autoimmune &amp; Cardio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473184" y="3200400"/>
            <a:ext cx="224028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Earlier-stage programs exploring mRNA approaches to autoimmune conditions and cardiovascular disease.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By Kanza Touqeer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Market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pandemic turned a clinical-stage biotech into a global pharmaceutical force almost overnight.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102C3A"/>
          </a:solidFill>
        </p:spPr>
      </p:sp>
      <p:sp>
        <p:nvSpPr>
          <p:cNvPr id="5" name="Text 3"/>
          <p:cNvSpPr/>
          <p:nvPr/>
        </p:nvSpPr>
        <p:spPr>
          <a:xfrm>
            <a:off x="548640" y="1874520"/>
            <a:ext cx="2697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~1B+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331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COVID-19 vaccine doses delivered worldwide since authorization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102C3A"/>
          </a:solidFill>
        </p:spPr>
      </p:sp>
      <p:sp>
        <p:nvSpPr>
          <p:cNvPr id="8" name="Text 6"/>
          <p:cNvSpPr/>
          <p:nvPr/>
        </p:nvSpPr>
        <p:spPr>
          <a:xfrm>
            <a:off x="3474720" y="1874520"/>
            <a:ext cx="2697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$18.5B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0" y="2697480"/>
            <a:ext cx="2331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annual revenue (FY2021), up from $803M the year before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102C3A"/>
          </a:solidFill>
        </p:spPr>
      </p:sp>
      <p:sp>
        <p:nvSpPr>
          <p:cNvPr id="11" name="Text 9"/>
          <p:cNvSpPr/>
          <p:nvPr/>
        </p:nvSpPr>
        <p:spPr>
          <a:xfrm>
            <a:off x="6400800" y="1874520"/>
            <a:ext cx="2697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~25%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0" y="2697480"/>
            <a:ext cx="2331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of 2021 doses shipped to low- and middle-income countries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0" y="169164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102C3A"/>
          </a:solidFill>
        </p:spPr>
      </p:sp>
      <p:sp>
        <p:nvSpPr>
          <p:cNvPr id="14" name="Text 12"/>
          <p:cNvSpPr/>
          <p:nvPr/>
        </p:nvSpPr>
        <p:spPr>
          <a:xfrm>
            <a:off x="9326880" y="1874520"/>
            <a:ext cx="2697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509760" y="2697480"/>
            <a:ext cx="2331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Approved commercial products as of early 2026 (Spikevax, mRESVIA, and a next-gen COVID vaccine)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position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1097280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mRNA as a viable, scalable drug platform — not just a one-time pandemic tool.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Competes directly with Pfizer-BioNTech in respiratory vaccines while building an independent oncology and rare-disease franchise.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 price and valuation have been highly volatile, tracking closely with COVID vaccine demand and pipeline news.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By Kanza Touqeer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Post-Pandemic Revenue Cliff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COVID-19 demand normalized, Moderna's single-product dependence became its biggest vulnerability.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822960" y="1828800"/>
          <a:ext cx="6126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554480"/>
            <a:ext cx="4160520" cy="470916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828800"/>
            <a:ext cx="502920" cy="502920"/>
          </a:xfrm>
          <a:prstGeom prst="ellipse">
            <a:avLst/>
          </a:prstGeom>
          <a:solidFill>
            <a:srgbClr val="FEE2DD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001" y="1884121"/>
            <a:ext cx="392278" cy="3922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0" y="1874520"/>
            <a:ext cx="3017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revenue fell so fast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0" y="2423160"/>
            <a:ext cx="356616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COVID-19 vaccination demand dropped sharply once most eligible populations had access.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 from emergency-use bulk government contracts to a smaller commercial, seasonal-vaccine market.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products (flu, next-gen COVID, oncology) were still in trials and not yet generating revenue.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responded with roughly $2B in annual cost cuts to protect its cash position through 2028.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FEE2DD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7419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6420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concentration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315468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years, nearly all revenue came from a single product line (COVID-19 vaccines), making the business highly sensitive to demand swings.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rgbClr val="FEE2DD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92" y="174193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66420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to profitability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0" y="2286000"/>
            <a:ext cx="315468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Heavy R&amp;D spending across a broad pipeline means the company is targeting cash breakeven only by 2028, not immediate profit.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13816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</p:spPr>
      </p:sp>
      <p:sp>
        <p:nvSpPr>
          <p:cNvPr id="14" name="Shape 10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rgbClr val="FEE2DD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174193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0" y="166420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&amp; equity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366760" y="2286000"/>
            <a:ext cx="315468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Vaccine pricing and distribution drew scrutiny over unequal access between wealthy and lower-income countries during the pandemic.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</p:spPr>
      </p:sp>
      <p:sp>
        <p:nvSpPr>
          <p:cNvPr id="19" name="Shape 14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FEE2DD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407365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399592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pressure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77240" y="4617720"/>
            <a:ext cx="315468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Faces direct competition from Pfizer-BioNTech in respiratory vaccines and from established players as it enters oncology and rare disease.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4340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</p:spPr>
      </p:sp>
      <p:sp>
        <p:nvSpPr>
          <p:cNvPr id="24" name="Shape 18"/>
          <p:cNvSpPr/>
          <p:nvPr/>
        </p:nvSpPr>
        <p:spPr>
          <a:xfrm>
            <a:off x="4572000" y="4023360"/>
            <a:ext cx="457200" cy="457200"/>
          </a:xfrm>
          <a:prstGeom prst="ellipse">
            <a:avLst/>
          </a:prstGeom>
          <a:solidFill>
            <a:srgbClr val="FEE2DD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292" y="407365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399592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&amp; regulatory risk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0" y="4617720"/>
            <a:ext cx="315468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Newer programs (cancer vaccines, rare disease therapies) must still clear Phase 3 trials and regulatory review before they can generate revenue.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13816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</p:spPr>
      </p:sp>
      <p:sp>
        <p:nvSpPr>
          <p:cNvPr id="29" name="Shape 22"/>
          <p:cNvSpPr/>
          <p:nvPr/>
        </p:nvSpPr>
        <p:spPr>
          <a:xfrm>
            <a:off x="8366760" y="4023360"/>
            <a:ext cx="457200" cy="457200"/>
          </a:xfrm>
          <a:prstGeom prst="ellipse">
            <a:avLst/>
          </a:prstGeom>
          <a:solidFill>
            <a:srgbClr val="FEE2DD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052" y="407365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961120" y="399592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trust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366760" y="4617720"/>
            <a:ext cx="315468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Broader vaccine hesitancy trends have made public communication and confidence-building an ongoing commercial challenge.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By Kanza Touqeer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Drove Moderna's Success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91920"/>
            <a:ext cx="11064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CCFBF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7519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Platform-first R&amp;D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480560" y="1691640"/>
            <a:ext cx="6858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decade of pre-pandemic investment in mRNA science meant Moderna could plug a new antigen into an already-proven delivery system rather than starting from scratch.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" y="2724912"/>
            <a:ext cx="548640" cy="548640"/>
          </a:xfrm>
          <a:prstGeom prst="ellipse">
            <a:avLst/>
          </a:prstGeom>
          <a:solidFill>
            <a:srgbClr val="CCFBF1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0" y="2785262"/>
            <a:ext cx="427939" cy="4279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724912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Government partnership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480560" y="2724912"/>
            <a:ext cx="6858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Early, large-scale funding and pre-purchase agreements (e.g., through the U.S. BARDA program) de-risked manufacturing scale-up before the vaccine was even approved.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68680" y="3758184"/>
            <a:ext cx="548640" cy="548640"/>
          </a:xfrm>
          <a:prstGeom prst="ellipse">
            <a:avLst/>
          </a:prstGeom>
          <a:solidFill>
            <a:srgbClr val="CCFBF1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3818534"/>
            <a:ext cx="427939" cy="4279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758184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to market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480560" y="3758184"/>
            <a:ext cx="6858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Moving from viral sequence to authorized vaccine in under a year set a new industry benchmark and built enormous brand credibility.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68680" y="4791456"/>
            <a:ext cx="548640" cy="548640"/>
          </a:xfrm>
          <a:prstGeom prst="ellipse">
            <a:avLst/>
          </a:prstGeom>
          <a:solidFill>
            <a:srgbClr val="CCFBF1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4851806"/>
            <a:ext cx="427939" cy="42793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791456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Manufacturing scale-up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480560" y="4791456"/>
            <a:ext cx="6858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 build-out of global manufacturing capacity, including new sites outside the U.S., let Moderna supply doses at a scale few biotechs could match.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By Kanza Touqeer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Lessons for the Biotech Industry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02C3A"/>
          </a:solidFill>
        </p:spPr>
      </p:sp>
      <p:sp>
        <p:nvSpPr>
          <p:cNvPr id="4" name="Text 2"/>
          <p:cNvSpPr/>
          <p:nvPr/>
        </p:nvSpPr>
        <p:spPr>
          <a:xfrm>
            <a:off x="777240" y="1645920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49377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platform technology can outlive any single product — Moderna's real asset is the mRNA engine, not just one vaccine.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02C3A"/>
          </a:solidFill>
        </p:spPr>
      </p:sp>
      <p:sp>
        <p:nvSpPr>
          <p:cNvPr id="7" name="Text 5"/>
          <p:cNvSpPr/>
          <p:nvPr/>
        </p:nvSpPr>
        <p:spPr>
          <a:xfrm>
            <a:off x="6446520" y="1645920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46520" y="2331720"/>
            <a:ext cx="49377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Crisis moments can compress a decade of validation into a year, but that speed creates fragile, hard-to-repeat growth.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02C3A"/>
          </a:solidFill>
        </p:spPr>
      </p:sp>
      <p:sp>
        <p:nvSpPr>
          <p:cNvPr id="10" name="Text 8"/>
          <p:cNvSpPr/>
          <p:nvPr/>
        </p:nvSpPr>
        <p:spPr>
          <a:xfrm>
            <a:off x="777240" y="4069080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4754880"/>
            <a:ext cx="49377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Diversifying the pipeline early is essential; single-product dependence is a major strategic risk once a crisis subsides.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886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02C3A"/>
          </a:solidFill>
        </p:spPr>
      </p:sp>
      <p:sp>
        <p:nvSpPr>
          <p:cNvPr id="13" name="Text 11"/>
          <p:cNvSpPr/>
          <p:nvPr/>
        </p:nvSpPr>
        <p:spPr>
          <a:xfrm>
            <a:off x="6446520" y="4069080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46520" y="4754880"/>
            <a:ext cx="49377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health equity considerations are now a core part of biotech's market and reputational strategy, not an afterthought.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 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By Kanza Touqeer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Looking Ahead: 2026 and Beyond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81760"/>
            <a:ext cx="6858000" cy="4892040"/>
          </a:xfrm>
          <a:prstGeom prst="roundRect">
            <a:avLst>
              <a:gd name="adj" fmla="val 1495"/>
            </a:avLst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rgbClr val="CCFBF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7062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targets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626364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 to 10% revenue growth in 2026, driven by an expanding seasonal vaccine franchise.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 from 3 to as many as 6 approved seasonal-vaccine products by 2028.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Nine ongoing Phase 2/3 oncology readouts expected, including three Phase 3 studies for its individualized cancer therapy.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Targeting cash breakeven by 2028 through continued cost discipline.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1371600"/>
            <a:ext cx="3977640" cy="4892040"/>
          </a:xfrm>
          <a:prstGeom prst="roundRect">
            <a:avLst>
              <a:gd name="adj" fmla="val 1839"/>
            </a:avLst>
          </a:prstGeom>
          <a:solidFill>
            <a:srgbClr val="0D9488"/>
          </a:solidFill>
        </p:spPr>
      </p:sp>
      <p:sp>
        <p:nvSpPr>
          <p:cNvPr id="9" name="Text 6"/>
          <p:cNvSpPr/>
          <p:nvPr/>
        </p:nvSpPr>
        <p:spPr>
          <a:xfrm>
            <a:off x="7909560" y="169164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Bottom line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347472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FD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Moderna's next chapter depends on proving mRNA works beyond vaccines — turning oncology and rare-disease science into approved, revenue-generating products before its cash runway narrows.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By Kanza Touqeer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09728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987552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Moderna's story shows both the extraordinary potential and the real fragility of platform biotechnology: a single crisis-driven success can fund a decade of future innovation, but only if the company can convert that windfall into a genuinely diversified pipeline before demand for the original product fades.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10058400" cy="2194560"/>
          </a:xfrm>
          <a:prstGeom prst="roundRect">
            <a:avLst>
              <a:gd name="adj" fmla="val 4167"/>
            </a:avLst>
          </a:prstGeom>
          <a:solidFill>
            <a:srgbClr val="102C3A"/>
          </a:solidFill>
        </p:spPr>
      </p:sp>
      <p:sp>
        <p:nvSpPr>
          <p:cNvPr id="6" name="Text 4"/>
          <p:cNvSpPr/>
          <p:nvPr/>
        </p:nvSpPr>
        <p:spPr>
          <a:xfrm>
            <a:off x="1143000" y="393192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4434840"/>
            <a:ext cx="950976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mRNA platform — not any single vaccine — is Moderna's lasting competitive advantage, and its long-term market impact will be judged on oncology and rare-disease results, not on COVID-19 alone.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Moderna Case Study  |  CodeAlpha Biotechnology Internship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</a:t>
            </a: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By Kanza Touqeer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8447</Words>
  <Application>WPS Presentation</Application>
  <PresentationFormat>On-screen Show (16:9)</PresentationFormat>
  <Paragraphs>276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Moderna Case Study</dc:title>
  <dc:creator>CodeAlpha Intern</dc:creator>
  <dc:subject>PptxGenJS Presentation</dc:subject>
  <cp:lastModifiedBy>HP</cp:lastModifiedBy>
  <cp:revision>2</cp:revision>
  <dcterms:created xsi:type="dcterms:W3CDTF">2026-07-03T10:06:00Z</dcterms:created>
  <dcterms:modified xsi:type="dcterms:W3CDTF">2026-07-03T10:20:10Z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30400ED3A2944124BBF23D84A29047F8_13</vt:lpwstr>
  </property>
</Properties>
</file>